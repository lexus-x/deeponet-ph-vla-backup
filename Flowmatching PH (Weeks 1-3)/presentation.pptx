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unknown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10312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Does Persistent Homology make SmolVLA more robust?</a:t>
            </a:r>
          </a:p>
          <a:p>
            <a:pPr algn="ctr">
              <a:defRPr sz="2000">
                <a:solidFill>
                  <a:srgbClr val="CFE8FF"/>
                </a:solidFill>
              </a:defRPr>
            </a:pPr>
            <a:r>
              <a:t>Topological regularization for Vision-Language-Action models on LIBERO</a:t>
            </a:r>
          </a:p>
          <a:p>
            <a:pPr algn="ctr">
              <a:defRPr sz="1600">
                <a:solidFill>
                  <a:srgbClr val="CFE8FF"/>
                </a:solidFill>
              </a:defRPr>
            </a:pPr>
            <a:r>
              <a:t>Master's research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F3A5F"/>
                </a:solidFill>
              </a:defRPr>
            </a:pPr>
            <a:r>
              <a:t>Motivation &amp; Research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971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3A5F"/>
                </a:solidFill>
              </a:defRPr>
            </a:pPr>
            <a:r>
              <a:t>•  VLA models (SmolVLA) do well on clean benchmarks…</a:t>
            </a:r>
          </a:p>
          <a:p>
            <a:pPr>
              <a:spcAft>
                <a:spcPts val="1400"/>
              </a:spcAft>
              <a:defRPr sz="2200">
                <a:solidFill>
                  <a:srgbClr val="1F3A5F"/>
                </a:solidFill>
              </a:defRPr>
            </a:pPr>
            <a:r>
              <a:t>•  …but can fail under visual perturbations (viewpoint, lighting, noise).</a:t>
            </a:r>
          </a:p>
          <a:p>
            <a:pPr>
              <a:spcAft>
                <a:spcPts val="1400"/>
              </a:spcAft>
              <a:defRPr sz="2200">
                <a:solidFill>
                  <a:srgbClr val="1F3A5F"/>
                </a:solidFill>
              </a:defRPr>
            </a:pPr>
            <a:r>
              <a:t>•  Idea: add a Persistent-Homology (PH) loss that matches the topology of</a:t>
            </a:r>
          </a:p>
          <a:p>
            <a:pPr>
              <a:spcAft>
                <a:spcPts val="1400"/>
              </a:spcAft>
              <a:defRPr sz="2200">
                <a:solidFill>
                  <a:srgbClr val="1F3A5F"/>
                </a:solidFill>
              </a:defRPr>
            </a:pPr>
            <a:r>
              <a:t>•      predicted vs expert action trajectories.</a:t>
            </a:r>
          </a:p>
          <a:p>
            <a:pPr>
              <a:spcAft>
                <a:spcPts val="1400"/>
              </a:spcAft>
              <a:defRPr sz="2200">
                <a:solidFill>
                  <a:srgbClr val="1F3A5F"/>
                </a:solidFill>
              </a:defRPr>
            </a:pPr>
            <a:r>
              <a:t>•  Question: does PH improve robustness without hurting accuracy or speed?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F3A5F"/>
                </a:solidFill>
              </a:defRPr>
            </a:pPr>
            <a:r>
              <a:t>Architecture: SmolVLA + PH regularization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669" y="1097280"/>
            <a:ext cx="9416355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80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PH is training-time only — inference is unchanged.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F3A5F"/>
                </a:solidFill>
              </a:defRPr>
            </a:pPr>
            <a:r>
              <a:t>Method — PH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971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3A5F"/>
                </a:solidFill>
              </a:defRPr>
            </a:pPr>
            <a:r>
              <a:t>•  Total loss  =  flow-matching loss  +  λ · PH loss</a:t>
            </a:r>
          </a:p>
          <a:p>
            <a:pPr>
              <a:spcAft>
                <a:spcPts val="1400"/>
              </a:spcAft>
              <a:defRPr sz="2200">
                <a:solidFill>
                  <a:srgbClr val="1F3A5F"/>
                </a:solidFill>
              </a:defRPr>
            </a:pPr>
            <a:r>
              <a:t>•  PH loss = difference in sorted top-k pairwise distances of action chunks</a:t>
            </a:r>
          </a:p>
          <a:p>
            <a:pPr>
              <a:spcAft>
                <a:spcPts val="1400"/>
              </a:spcAft>
              <a:defRPr sz="2200">
                <a:solidFill>
                  <a:srgbClr val="1F3A5F"/>
                </a:solidFill>
              </a:defRPr>
            </a:pPr>
            <a:r>
              <a:t>•  Two-stage training: (1) warm-up head, (2) fine-tune full backbone</a:t>
            </a:r>
          </a:p>
          <a:p>
            <a:pPr>
              <a:spcAft>
                <a:spcPts val="1400"/>
              </a:spcAft>
              <a:defRPr sz="2200">
                <a:solidFill>
                  <a:srgbClr val="1F3A5F"/>
                </a:solidFill>
              </a:defRPr>
            </a:pPr>
            <a:r>
              <a:t>•  bfloat16, AdamW, gradient checkpointing (Blackwell GPU)</a:t>
            </a:r>
          </a:p>
          <a:p>
            <a:pPr>
              <a:defRPr sz="1600" i="1">
                <a:solidFill>
                  <a:srgbClr val="555555"/>
                </a:solidFill>
              </a:defRPr>
            </a:pPr>
            <a:r>
              <a:t>Regularization weight λ = 0.1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14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Experiment 1 — v1 run</a:t>
            </a:r>
          </a:p>
          <a:p>
            <a:pPr algn="ctr">
              <a:defRPr sz="2000">
                <a:solidFill>
                  <a:srgbClr val="CFE8FF"/>
                </a:solidFill>
              </a:defRPr>
            </a:pPr>
            <a:r>
              <a:t>LIBERO-10 &amp; LIBERO-V (visual perturbations)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F3A5F"/>
                </a:solidFill>
              </a:defRPr>
            </a:pPr>
            <a:r>
              <a:t>v1 — Success rate (per task)</a:t>
            </a:r>
          </a:p>
        </p:txBody>
      </p:sp>
      <p:pic>
        <p:nvPicPr>
          <p:cNvPr id="3" name="Picture 2" descr="libero10_per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7295" cy="49860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F3A5F"/>
                </a:solidFill>
              </a:defRPr>
            </a:pPr>
            <a:r>
              <a:t>v1 — Robustness to perturbations</a:t>
            </a:r>
          </a:p>
        </p:txBody>
      </p:sp>
      <p:pic>
        <p:nvPicPr>
          <p:cNvPr id="3" name="Picture 2" descr="liberov_perturb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916" y="1097280"/>
            <a:ext cx="8661861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80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viewpoint / lighting / sensor-noise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F3A5F"/>
                </a:solidFill>
              </a:defRPr>
            </a:pPr>
            <a:r>
              <a:t>v1 — Latency &amp; Parameters</a:t>
            </a:r>
          </a:p>
        </p:txBody>
      </p:sp>
      <p:pic>
        <p:nvPicPr>
          <p:cNvPr id="3" name="Picture 2" descr="params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7295" cy="41170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80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PH adds zero inference cost (train-only) — latency &amp; params identical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14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Experiment 2 — Stronger run</a:t>
            </a:r>
          </a:p>
          <a:p>
            <a:pPr algn="ctr">
              <a:defRPr sz="2000">
                <a:solidFill>
                  <a:srgbClr val="CFE8FF"/>
                </a:solidFill>
              </a:defRPr>
            </a:pPr>
            <a:r>
              <a:t>Longer training (~6 epochs), 2 suites: LIBERO-10 + LIBERO-Spatial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F3A5F"/>
                </a:solidFill>
              </a:defRPr>
            </a:pPr>
            <a:r>
              <a:t>Stronger run — Success rate per task</a:t>
            </a:r>
          </a:p>
        </p:txBody>
      </p:sp>
      <p:pic>
        <p:nvPicPr>
          <p:cNvPr id="3" name="Picture 2" descr="success_LIBERO-10_per_t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730087" cy="2533431"/>
          </a:xfrm>
          <a:prstGeom prst="rect">
            <a:avLst/>
          </a:prstGeom>
        </p:spPr>
      </p:pic>
      <p:pic>
        <p:nvPicPr>
          <p:cNvPr id="4" name="Picture 3" descr="success_LIBERO-SPATIAL_per_t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463040"/>
            <a:ext cx="5730087" cy="253343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LIBERO-10 (left)  &amp;  LIBERO-Spatial (right)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F3A5F"/>
                </a:solidFill>
              </a:defRPr>
            </a:pPr>
            <a:r>
              <a:t>Stronger run — Robustness by perturbation</a:t>
            </a:r>
          </a:p>
        </p:txBody>
      </p:sp>
      <p:pic>
        <p:nvPicPr>
          <p:cNvPr id="3" name="Picture 2" descr="success_LIBERO-10-V_by_perturb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5730087" cy="3387460"/>
          </a:xfrm>
          <a:prstGeom prst="rect">
            <a:avLst/>
          </a:prstGeom>
        </p:spPr>
      </p:pic>
      <p:pic>
        <p:nvPicPr>
          <p:cNvPr id="4" name="Picture 3" descr="success_LIBERO-SPATIAL-V_by_perturb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463040"/>
            <a:ext cx="5730087" cy="33874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viewpoint / lighting / sensor-noise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F3A5F"/>
                </a:solidFill>
              </a:defRPr>
            </a:pPr>
            <a:r>
              <a:t>Stronger run — Where PH helps (per-task Δ)</a:t>
            </a:r>
          </a:p>
        </p:txBody>
      </p:sp>
      <p:pic>
        <p:nvPicPr>
          <p:cNvPr id="3" name="Picture 2" descr="per_task_winloss_LIBERO-SPA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944" y="1097280"/>
            <a:ext cx="8871806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80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PH wins big on some tasks (e.g. task4), loses on others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F3A5F"/>
                </a:solidFill>
              </a:defRPr>
            </a:pPr>
            <a:r>
              <a:t>Stronger run — Latency &amp; Parameters</a:t>
            </a:r>
          </a:p>
        </p:txBody>
      </p:sp>
      <p:pic>
        <p:nvPicPr>
          <p:cNvPr id="3" name="Picture 2" descr="params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7295" cy="41170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8076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555555"/>
                </a:solidFill>
              </a:defRPr>
            </a:pPr>
            <a:r>
              <a:t>Same architecture &amp; latency for both — PH is free at inference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146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Qualitative result</a:t>
            </a:r>
          </a:p>
          <a:p>
            <a:pPr algn="ctr">
              <a:defRPr sz="2000">
                <a:solidFill>
                  <a:srgbClr val="CFE8FF"/>
                </a:solidFill>
              </a:defRPr>
            </a:pPr>
            <a:r>
              <a:t>A task PH solves that flow-matching cannot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F3A5F"/>
                </a:solidFill>
              </a:defRPr>
            </a:pPr>
            <a:r>
              <a:t>PH succeeds where flow-matching fails (LIBERO-Spatial, task 4)</a:t>
            </a:r>
          </a:p>
        </p:txBody>
      </p:sp>
      <p:pic>
        <p:nvPicPr>
          <p:cNvPr id="3" name="ph_wins_task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165188" y="1463040"/>
            <a:ext cx="7861317" cy="4206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0350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D62C2C"/>
                </a:solidFill>
              </a:defRPr>
            </a:pPr>
            <a:r>
              <a:t>Left: flow-matching (fails)   |   Right: flow + PH (succeeds)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1F3A5F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99971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1F3A5F"/>
                </a:solidFill>
              </a:defRPr>
            </a:pPr>
            <a:r>
              <a:t>•  Built a full SmolVLA + PH training / eval / video pipeline on a Blackwell GPU</a:t>
            </a:r>
          </a:p>
          <a:p>
            <a:pPr>
              <a:spcAft>
                <a:spcPts val="1400"/>
              </a:spcAft>
              <a:defRPr sz="2200">
                <a:solidFill>
                  <a:srgbClr val="1F3A5F"/>
                </a:solidFill>
              </a:defRPr>
            </a:pPr>
            <a:r>
              <a:t>•  PH is training-time only → zero inference cost (latency &amp; params unchanged)</a:t>
            </a:r>
          </a:p>
          <a:p>
            <a:pPr>
              <a:spcAft>
                <a:spcPts val="1400"/>
              </a:spcAft>
              <a:defRPr sz="2200">
                <a:solidFill>
                  <a:srgbClr val="1F3A5F"/>
                </a:solidFill>
              </a:defRPr>
            </a:pPr>
            <a:r>
              <a:t>•  Robustness vs accuracy shows a trade-off controlled by λ</a:t>
            </a:r>
          </a:p>
          <a:p>
            <a:pPr>
              <a:spcAft>
                <a:spcPts val="1400"/>
              </a:spcAft>
              <a:defRPr sz="2200">
                <a:solidFill>
                  <a:srgbClr val="1F3A5F"/>
                </a:solidFill>
              </a:defRPr>
            </a:pPr>
            <a:r>
              <a:t>•  PH can solve specific tasks the baseline cannot (qualitative win)</a:t>
            </a:r>
          </a:p>
          <a:p>
            <a:pPr>
              <a:defRPr sz="1600" i="1">
                <a:solidFill>
                  <a:srgbClr val="555555"/>
                </a:solidFill>
              </a:defRPr>
            </a:pPr>
            <a:r>
              <a:t>λ = 0.1 throughout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