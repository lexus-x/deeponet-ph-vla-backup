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5F27CD"/>
                </a:solidFill>
              </a:defRPr>
            </a:pPr>
            <a:r>
              <a:t>Week 3 — Progress Report</a:t>
            </a:r>
          </a:p>
          <a:p>
            <a:pPr algn="ctr">
              <a:defRPr sz="2000">
                <a:solidFill>
                  <a:srgbClr val="223355"/>
                </a:solidFill>
              </a:defRPr>
            </a:pPr>
            <a:r>
              <a:t>Persistent Homology regularization for SmolVLA on LIBERO</a:t>
            </a:r>
          </a:p>
          <a:p>
            <a:pPr algn="ctr">
              <a:defRPr sz="2600" b="1">
                <a:solidFill>
                  <a:srgbClr val="EE5253"/>
                </a:solidFill>
              </a:defRPr>
            </a:pPr>
            <a:r>
              <a:t>Ayush Shah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5F27CD"/>
                </a:solidFill>
              </a:defRPr>
            </a:pPr>
            <a:r>
              <a:t>Concept — Persistent Homology (PH)</a:t>
            </a:r>
          </a:p>
        </p:txBody>
      </p:sp>
      <p:pic>
        <p:nvPicPr>
          <p:cNvPr id="3" name="Picture 2" descr="concept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74" y="1188720"/>
            <a:ext cx="974474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5F27CD"/>
                </a:solidFill>
              </a:defRPr>
            </a:pPr>
            <a:r>
              <a:t>Architecture — SmolVLA + PH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744" y="1097280"/>
            <a:ext cx="924820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23355"/>
                </a:solidFill>
              </a:defRPr>
            </a:pPr>
            <a:r>
              <a:t>Final loss:  L_total = L1 + λ · PH      (PH is training-time only)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5F27CD"/>
                </a:solidFill>
              </a:defRPr>
            </a:pPr>
            <a:r>
              <a:t>V1 — first run (LIBERO-10)</a:t>
            </a:r>
          </a:p>
        </p:txBody>
      </p:sp>
      <p:pic>
        <p:nvPicPr>
          <p:cNvPr id="3" name="Picture 2" descr="v1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89" y="1188720"/>
            <a:ext cx="7074715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Parameters &amp; inference latency stay identical (PH is train-only)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15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0AC84"/>
                </a:solidFill>
              </a:defRPr>
            </a:pPr>
            <a:r>
              <a:t>1.6 epochs  •  162 min total  (2.7 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5F27CD"/>
                </a:solidFill>
              </a:defRPr>
            </a:pPr>
            <a:r>
              <a:t>Stronger run — results  (λ = 0.1)</a:t>
            </a:r>
          </a:p>
        </p:txBody>
      </p:sp>
      <p:pic>
        <p:nvPicPr>
          <p:cNvPr id="3" name="Picture 2" descr="stro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590" y="1143000"/>
            <a:ext cx="7228513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Parameters &amp; latency unchanged  •  LIBERO-10 + LIBERO-Spatial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15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0AC84"/>
                </a:solidFill>
              </a:defRPr>
            </a:pPr>
            <a:r>
              <a:t>6.8 epochs  •  553 min total  (9.2 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5F27CD"/>
                </a:solidFill>
              </a:defRPr>
            </a:pPr>
            <a:r>
              <a:t>Stronger run — PH succeeds where flow-matching fails</a:t>
            </a:r>
          </a:p>
        </p:txBody>
      </p:sp>
      <p:pic>
        <p:nvPicPr>
          <p:cNvPr id="3" name="ph_wins_task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65188" y="1371600"/>
            <a:ext cx="7861317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EE5253"/>
                </a:solidFill>
              </a:defRPr>
            </a:pPr>
            <a:r>
              <a:t>LIBERO-Spatial task 4 — Left: flow-matching (FAIL)   |   Right: flow + PH (SUCCESS)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5F27CD"/>
                </a:solidFill>
              </a:defRPr>
            </a:pPr>
            <a:r>
              <a:t>Results not as required → sweep λ  (our trained model)</a:t>
            </a:r>
          </a:p>
        </p:txBody>
      </p:sp>
      <p:pic>
        <p:nvPicPr>
          <p:cNvPr id="3" name="Picture 2" descr="p1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504" y="1280160"/>
            <a:ext cx="9616685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Best λ highlighted = 0.02   •   robustness on viewpoint / lighting / sensor-noise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15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0AC84"/>
                </a:solidFill>
              </a:defRPr>
            </a:pPr>
            <a:r>
              <a:t>7.6 epochs  •  872 min total  (14.5 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5F27CD"/>
                </a:solidFill>
              </a:defRPr>
            </a:pPr>
            <a:r>
              <a:t>λ sweep — success vs robustness (our trained model)</a:t>
            </a:r>
          </a:p>
        </p:txBody>
      </p:sp>
      <p:pic>
        <p:nvPicPr>
          <p:cNvPr id="3" name="Picture 2" descr="p1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735" y="1280160"/>
            <a:ext cx="9476223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green ring = best λ (0.02)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5F27CD"/>
                </a:solidFill>
              </a:defRPr>
            </a:pPr>
            <a:r>
              <a:t>Using an official online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8142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3355"/>
                </a:solidFill>
              </a:defRPr>
            </a:pPr>
            <a:r>
              <a:t>•  We could not reach SmolVLA's maximum capacity on LIBERO with our own training.</a:t>
            </a:r>
          </a:p>
          <a:p>
            <a:pPr>
              <a:spcAft>
                <a:spcPts val="1200"/>
              </a:spcAft>
              <a:defRPr sz="2200">
                <a:solidFill>
                  <a:srgbClr val="223355"/>
                </a:solidFill>
              </a:defRPr>
            </a:pPr>
            <a:r>
              <a:t>•  So we used an official online checkpoint (lerobot/smolvla_libero) that claims higher accuracy.</a:t>
            </a:r>
          </a:p>
          <a:p>
            <a:pPr>
              <a:spcAft>
                <a:spcPts val="1200"/>
              </a:spcAft>
              <a:defRPr sz="2200">
                <a:solidFill>
                  <a:srgbClr val="223355"/>
                </a:solidFill>
              </a:defRPr>
            </a:pPr>
            <a:r>
              <a:t>•  We recreated the model from that checkpoint…</a:t>
            </a:r>
          </a:p>
          <a:p>
            <a:pPr>
              <a:spcAft>
                <a:spcPts val="1200"/>
              </a:spcAft>
              <a:defRPr sz="2200">
                <a:solidFill>
                  <a:srgbClr val="223355"/>
                </a:solidFill>
              </a:defRPr>
            </a:pPr>
            <a:r>
              <a:t>•  …and fine-tuned it with PH for different values of 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5F27CD"/>
                </a:solidFill>
              </a:defRPr>
            </a:pPr>
            <a:r>
              <a:t>Official checkpoint — λ sweep table  (LIBERO-Object)</a:t>
            </a:r>
          </a:p>
        </p:txBody>
      </p:sp>
      <p:pic>
        <p:nvPicPr>
          <p:cNvPr id="3" name="Picture 2" descr="p2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504" y="1280160"/>
            <a:ext cx="9616685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Best λ highlighted = 0.02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15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0AC84"/>
                </a:solidFill>
              </a:defRPr>
            </a:pPr>
            <a:r>
              <a:t>2.4 epochs  •  517 min total  (8.6 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5F27CD"/>
                </a:solidFill>
              </a:defRPr>
            </a:pPr>
            <a:r>
              <a:t>Official checkpoint — success vs robustness</a:t>
            </a:r>
          </a:p>
        </p:txBody>
      </p:sp>
      <p:pic>
        <p:nvPicPr>
          <p:cNvPr id="3" name="Picture 2" descr="p2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735" y="1280160"/>
            <a:ext cx="9476223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green ring = best λ (0.02)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5F27CD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EE5253"/>
                </a:solidFill>
              </a:defRPr>
            </a:pPr>
            <a:r>
              <a:t>Ayush Shah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